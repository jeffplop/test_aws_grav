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b="1">
                <a:solidFill>
                  <a:srgbClr val="FF9900"/>
                </a:solidFill>
              </a:defRPr>
            </a:pPr>
            <a:r>
              <a:t>Innovatech Chile: Proyecto Semestral DevOps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Evaluación Parcial 2 - Defensa Técnica</a:t>
            </a:r>
          </a:p>
          <a:p>
            <a:r>
              <a:t>Arquitectura Java Spring Boot &amp; React Vite en AWS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232F3E"/>
                </a:solidFill>
                <a:latin typeface="Arial"/>
              </a:defRPr>
            </a:pPr>
            <a:r>
              <a:t>Contexto: Proyecto Semestral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1400"/>
              </a:spcAft>
              <a:defRPr sz="2000">
                <a:solidFill>
                  <a:srgbClr val="3C3C3C"/>
                </a:solidFill>
                <a:latin typeface="Arial"/>
              </a:defRPr>
            </a:pPr>
            <a:r>
              <a:t>Objetivo: Desplegar plataforma de microservicios en AWS.</a:t>
            </a:r>
          </a:p>
          <a:p>
            <a:pPr>
              <a:spcAft>
                <a:spcPts val="1400"/>
              </a:spcAft>
              <a:defRPr sz="2000">
                <a:solidFill>
                  <a:srgbClr val="3C3C3C"/>
                </a:solidFill>
                <a:latin typeface="Arial"/>
              </a:defRPr>
            </a:pPr>
            <a:r>
              <a:t>Arquitectura:</a:t>
            </a:r>
          </a:p>
          <a:p>
            <a:pPr>
              <a:spcAft>
                <a:spcPts val="1400"/>
              </a:spcAft>
              <a:defRPr sz="2000">
                <a:solidFill>
                  <a:srgbClr val="3C3C3C"/>
                </a:solidFill>
                <a:latin typeface="Arial"/>
              </a:defRPr>
            </a:pPr>
            <a:r>
              <a:t>1. Frontend React (Vite).</a:t>
            </a:r>
          </a:p>
          <a:p>
            <a:pPr>
              <a:spcAft>
                <a:spcPts val="1400"/>
              </a:spcAft>
              <a:defRPr sz="2000">
                <a:solidFill>
                  <a:srgbClr val="3C3C3C"/>
                </a:solidFill>
                <a:latin typeface="Arial"/>
              </a:defRPr>
            </a:pPr>
            <a:r>
              <a:t>2. Backend Ventas (Java Spring Boot).</a:t>
            </a:r>
          </a:p>
          <a:p>
            <a:pPr>
              <a:spcAft>
                <a:spcPts val="1400"/>
              </a:spcAft>
              <a:defRPr sz="2000">
                <a:solidFill>
                  <a:srgbClr val="3C3C3C"/>
                </a:solidFill>
                <a:latin typeface="Arial"/>
              </a:defRPr>
            </a:pPr>
            <a:r>
              <a:t>3. Backend Despachos (Java Spring Boot).</a:t>
            </a:r>
          </a:p>
          <a:p>
            <a:pPr>
              <a:spcAft>
                <a:spcPts val="1400"/>
              </a:spcAft>
              <a:defRPr sz="2000">
                <a:solidFill>
                  <a:srgbClr val="3C3C3C"/>
                </a:solidFill>
                <a:latin typeface="Arial"/>
              </a:defRPr>
            </a:pPr>
            <a:r>
              <a:t>4. Database MySQL compartida.</a:t>
            </a:r>
          </a:p>
          <a:p>
            <a:pPr>
              <a:spcAft>
                <a:spcPts val="1400"/>
              </a:spcAft>
              <a:defRPr sz="2000">
                <a:solidFill>
                  <a:srgbClr val="3C3C3C"/>
                </a:solidFill>
                <a:latin typeface="Arial"/>
              </a:defRPr>
            </a:pPr>
            <a:r>
              <a:t>Automatización total vía GitHub Actions a Amazon EC2.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232F3E"/>
                </a:solidFill>
                <a:latin typeface="Arial"/>
              </a:defRPr>
            </a:pPr>
            <a:r>
              <a:t>[IE1/IE6] Diseño de Contenedorización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1400"/>
              </a:spcAft>
              <a:defRPr sz="2000">
                <a:solidFill>
                  <a:srgbClr val="3C3C3C"/>
                </a:solidFill>
                <a:latin typeface="Arial"/>
              </a:defRPr>
            </a:pPr>
            <a:r>
              <a:t>Backends (Java Maven):</a:t>
            </a:r>
          </a:p>
          <a:p>
            <a:pPr>
              <a:spcAft>
                <a:spcPts val="1400"/>
              </a:spcAft>
              <a:defRPr sz="2000">
                <a:solidFill>
                  <a:srgbClr val="3C3C3C"/>
                </a:solidFill>
                <a:latin typeface="Arial"/>
              </a:defRPr>
            </a:pPr>
            <a:r>
              <a:t>• Multi-stage: 'maven' compila, 'temurin-jre-alpine' corre.</a:t>
            </a:r>
          </a:p>
          <a:p>
            <a:pPr>
              <a:spcAft>
                <a:spcPts val="1400"/>
              </a:spcAft>
              <a:defRPr sz="2000">
                <a:solidFill>
                  <a:srgbClr val="3C3C3C"/>
                </a:solidFill>
                <a:latin typeface="Arial"/>
              </a:defRPr>
            </a:pPr>
            <a:r>
              <a:t>• Seguridad: Ejecutados con usuario 'spring' (non-root).</a:t>
            </a:r>
          </a:p>
          <a:p>
            <a:pPr>
              <a:spcAft>
                <a:spcPts val="1400"/>
              </a:spcAft>
              <a:defRPr sz="2000">
                <a:solidFill>
                  <a:srgbClr val="3C3C3C"/>
                </a:solidFill>
                <a:latin typeface="Arial"/>
              </a:defRPr>
            </a:pPr>
          </a:p>
          <a:p>
            <a:pPr>
              <a:spcAft>
                <a:spcPts val="1400"/>
              </a:spcAft>
              <a:defRPr sz="2000">
                <a:solidFill>
                  <a:srgbClr val="3C3C3C"/>
                </a:solidFill>
                <a:latin typeface="Arial"/>
              </a:defRPr>
            </a:pPr>
            <a:r>
              <a:t>Frontend (React Vite):</a:t>
            </a:r>
          </a:p>
          <a:p>
            <a:pPr>
              <a:spcAft>
                <a:spcPts val="1400"/>
              </a:spcAft>
              <a:defRPr sz="2000">
                <a:solidFill>
                  <a:srgbClr val="3C3C3C"/>
                </a:solidFill>
                <a:latin typeface="Arial"/>
              </a:defRPr>
            </a:pPr>
            <a:r>
              <a:t>• Multi-stage: 'node' compila, Nginx sirve estáticos.</a:t>
            </a:r>
          </a:p>
          <a:p>
            <a:pPr>
              <a:spcAft>
                <a:spcPts val="1400"/>
              </a:spcAft>
              <a:defRPr sz="2000">
                <a:solidFill>
                  <a:srgbClr val="3C3C3C"/>
                </a:solidFill>
                <a:latin typeface="Arial"/>
              </a:defRPr>
            </a:pPr>
            <a:r>
              <a:t>• Seguridad: nginxinc/nginx-unprivileged (Puerto 8080).</a:t>
            </a:r>
          </a:p>
          <a:p>
            <a:pPr>
              <a:spcAft>
                <a:spcPts val="1400"/>
              </a:spcAft>
              <a:defRPr sz="2000">
                <a:solidFill>
                  <a:srgbClr val="3C3C3C"/>
                </a:solidFill>
                <a:latin typeface="Arial"/>
              </a:defRPr>
            </a:pPr>
            <a:r>
              <a:t>• Enrutamiento: Nginx actúa como Proxy Reverso (/api/*).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232F3E"/>
                </a:solidFill>
                <a:latin typeface="Arial"/>
              </a:defRPr>
            </a:pPr>
            <a:r>
              <a:t>[IE2/IE6] Docker Compose y Persistencia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1400"/>
              </a:spcAft>
              <a:defRPr sz="2000">
                <a:solidFill>
                  <a:srgbClr val="3C3C3C"/>
                </a:solidFill>
                <a:latin typeface="Arial"/>
              </a:defRPr>
            </a:pPr>
            <a:r>
              <a:t>Orquestación (4 Servicios):</a:t>
            </a:r>
          </a:p>
          <a:p>
            <a:pPr>
              <a:spcAft>
                <a:spcPts val="1400"/>
              </a:spcAft>
              <a:defRPr sz="2000">
                <a:solidFill>
                  <a:srgbClr val="3C3C3C"/>
                </a:solidFill>
                <a:latin typeface="Arial"/>
              </a:defRPr>
            </a:pPr>
            <a:r>
              <a:t>• Red Interna: 'app-network' aísla microservicios.</a:t>
            </a:r>
          </a:p>
          <a:p>
            <a:pPr>
              <a:spcAft>
                <a:spcPts val="1400"/>
              </a:spcAft>
              <a:defRPr sz="2000">
                <a:solidFill>
                  <a:srgbClr val="3C3C3C"/>
                </a:solidFill>
                <a:latin typeface="Arial"/>
              </a:defRPr>
            </a:pPr>
            <a:r>
              <a:t>Persistencia de Datos:</a:t>
            </a:r>
          </a:p>
          <a:p>
            <a:pPr>
              <a:spcAft>
                <a:spcPts val="1400"/>
              </a:spcAft>
              <a:defRPr sz="2000">
                <a:solidFill>
                  <a:srgbClr val="3C3C3C"/>
                </a:solidFill>
                <a:latin typeface="Arial"/>
              </a:defRPr>
            </a:pPr>
            <a:r>
              <a:t>• Elección: Named Volume ('tienda_db_data').</a:t>
            </a:r>
          </a:p>
          <a:p>
            <a:pPr>
              <a:spcAft>
                <a:spcPts val="1400"/>
              </a:spcAft>
              <a:defRPr sz="2000">
                <a:solidFill>
                  <a:srgbClr val="3C3C3C"/>
                </a:solidFill>
                <a:latin typeface="Arial"/>
              </a:defRPr>
            </a:pPr>
            <a:r>
              <a:t>• Justificación: Named Volumes aíslan datos del host Linux,</a:t>
            </a:r>
          </a:p>
          <a:p>
            <a:pPr>
              <a:spcAft>
                <a:spcPts val="1400"/>
              </a:spcAft>
              <a:defRPr sz="2000">
                <a:solidFill>
                  <a:srgbClr val="3C3C3C"/>
                </a:solidFill>
                <a:latin typeface="Arial"/>
              </a:defRPr>
            </a:pPr>
            <a:r>
              <a:t>  mejorando la portabilidad y seguridad vs Bind Mounts.</a:t>
            </a:r>
          </a:p>
          <a:p>
            <a:pPr>
              <a:spcAft>
                <a:spcPts val="1400"/>
              </a:spcAft>
              <a:defRPr sz="2000">
                <a:solidFill>
                  <a:srgbClr val="3C3C3C"/>
                </a:solidFill>
                <a:latin typeface="Arial"/>
              </a:defRPr>
            </a:pPr>
            <a:r>
              <a:t>• Alta Disponibilidad: Datos sobreviven a redespliegues.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232F3E"/>
                </a:solidFill>
                <a:latin typeface="Arial"/>
              </a:defRPr>
            </a:pPr>
            <a:r>
              <a:t>[IE3] Pipeline CI/CD: 3 Flujos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1400"/>
              </a:spcAft>
              <a:defRPr sz="2000">
                <a:solidFill>
                  <a:srgbClr val="3C3C3C"/>
                </a:solidFill>
                <a:latin typeface="Arial"/>
              </a:defRPr>
            </a:pPr>
            <a:r>
              <a:t>Pipelines Independientes por Microservicio:</a:t>
            </a:r>
          </a:p>
          <a:p>
            <a:pPr>
              <a:spcAft>
                <a:spcPts val="1400"/>
              </a:spcAft>
              <a:defRPr sz="2000">
                <a:solidFill>
                  <a:srgbClr val="3C3C3C"/>
                </a:solidFill>
                <a:latin typeface="Arial"/>
              </a:defRPr>
            </a:pPr>
            <a:r>
              <a:t>• cicd-tienda-frontend.yml</a:t>
            </a:r>
          </a:p>
          <a:p>
            <a:pPr>
              <a:spcAft>
                <a:spcPts val="1400"/>
              </a:spcAft>
              <a:defRPr sz="2000">
                <a:solidFill>
                  <a:srgbClr val="3C3C3C"/>
                </a:solidFill>
                <a:latin typeface="Arial"/>
              </a:defRPr>
            </a:pPr>
            <a:r>
              <a:t>• cicd-tienda-backend-ventas.yml</a:t>
            </a:r>
          </a:p>
          <a:p>
            <a:pPr>
              <a:spcAft>
                <a:spcPts val="1400"/>
              </a:spcAft>
              <a:defRPr sz="2000">
                <a:solidFill>
                  <a:srgbClr val="3C3C3C"/>
                </a:solidFill>
                <a:latin typeface="Arial"/>
              </a:defRPr>
            </a:pPr>
            <a:r>
              <a:t>• cicd-tienda-backend-despachos.yml</a:t>
            </a:r>
          </a:p>
          <a:p>
            <a:pPr>
              <a:spcAft>
                <a:spcPts val="1400"/>
              </a:spcAft>
              <a:defRPr sz="2000">
                <a:solidFill>
                  <a:srgbClr val="3C3C3C"/>
                </a:solidFill>
                <a:latin typeface="Arial"/>
              </a:defRPr>
            </a:pPr>
            <a:r>
              <a:t>Flujo (Push a rama 'deploy'):</a:t>
            </a:r>
          </a:p>
          <a:p>
            <a:pPr>
              <a:spcAft>
                <a:spcPts val="1400"/>
              </a:spcAft>
              <a:defRPr sz="2000">
                <a:solidFill>
                  <a:srgbClr val="3C3C3C"/>
                </a:solidFill>
                <a:latin typeface="Arial"/>
              </a:defRPr>
            </a:pPr>
            <a:r>
              <a:t>1. Build &amp; Push imagen a Amazon ECR.</a:t>
            </a:r>
          </a:p>
          <a:p>
            <a:pPr>
              <a:spcAft>
                <a:spcPts val="1400"/>
              </a:spcAft>
              <a:defRPr sz="2000">
                <a:solidFill>
                  <a:srgbClr val="3C3C3C"/>
                </a:solidFill>
                <a:latin typeface="Arial"/>
              </a:defRPr>
            </a:pPr>
            <a:r>
              <a:t>2. Trigger SSM para EC2: Docker Compose Pull &amp; Up.</a:t>
            </a:r>
          </a:p>
        </p:txBody>
      </p:sp>
      <p:pic>
        <p:nvPicPr>
          <p:cNvPr id="4" name="Picture 3" descr="2-flujo-cic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0" y="2286000"/>
            <a:ext cx="472440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232F3E"/>
                </a:solidFill>
                <a:latin typeface="Arial"/>
              </a:defRPr>
            </a:pPr>
            <a:r>
              <a:t>[IE7] Justificación Técnica del Despliegue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1400"/>
              </a:spcAft>
              <a:defRPr sz="2000">
                <a:solidFill>
                  <a:srgbClr val="3C3C3C"/>
                </a:solidFill>
                <a:latin typeface="Arial"/>
              </a:defRPr>
            </a:pPr>
            <a:r>
              <a:t>¿Por qué Amazon ECR?</a:t>
            </a:r>
          </a:p>
          <a:p>
            <a:pPr>
              <a:spcAft>
                <a:spcPts val="1400"/>
              </a:spcAft>
              <a:defRPr sz="2000">
                <a:solidFill>
                  <a:srgbClr val="3C3C3C"/>
                </a:solidFill>
                <a:latin typeface="Arial"/>
              </a:defRPr>
            </a:pPr>
            <a:r>
              <a:t>• Integración nativa con IAM y latencia cero hacia EC2.</a:t>
            </a:r>
          </a:p>
          <a:p>
            <a:pPr>
              <a:spcAft>
                <a:spcPts val="1400"/>
              </a:spcAft>
              <a:defRPr sz="2000">
                <a:solidFill>
                  <a:srgbClr val="3C3C3C"/>
                </a:solidFill>
                <a:latin typeface="Arial"/>
              </a:defRPr>
            </a:pPr>
            <a:r>
              <a:t>¿Por qué AWS Systems Manager (SSM)?</a:t>
            </a:r>
          </a:p>
          <a:p>
            <a:pPr>
              <a:spcAft>
                <a:spcPts val="1400"/>
              </a:spcAft>
              <a:defRPr sz="2000">
                <a:solidFill>
                  <a:srgbClr val="3C3C3C"/>
                </a:solidFill>
                <a:latin typeface="Arial"/>
              </a:defRPr>
            </a:pPr>
            <a:r>
              <a:t>• Permite comandos remotos automatizados en EC2.</a:t>
            </a:r>
          </a:p>
          <a:p>
            <a:pPr>
              <a:spcAft>
                <a:spcPts val="1400"/>
              </a:spcAft>
              <a:defRPr sz="2000">
                <a:solidFill>
                  <a:srgbClr val="3C3C3C"/>
                </a:solidFill>
                <a:latin typeface="Arial"/>
              </a:defRPr>
            </a:pPr>
            <a:r>
              <a:t>• Innovatech Chile no necesita abrir puertos SSH al mundo,</a:t>
            </a:r>
          </a:p>
          <a:p>
            <a:pPr>
              <a:spcAft>
                <a:spcPts val="1400"/>
              </a:spcAft>
              <a:defRPr sz="2000">
                <a:solidFill>
                  <a:srgbClr val="3C3C3C"/>
                </a:solidFill>
                <a:latin typeface="Arial"/>
              </a:defRPr>
            </a:pPr>
            <a:r>
              <a:t>  mitigando vulnerabilidades críticas en producción.</a:t>
            </a:r>
          </a:p>
        </p:txBody>
      </p:sp>
      <p:pic>
        <p:nvPicPr>
          <p:cNvPr id="4" name="Picture 3" descr="3-github-ac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0" y="2286000"/>
            <a:ext cx="6593983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232F3E"/>
                </a:solidFill>
                <a:latin typeface="Arial"/>
              </a:defRPr>
            </a:pPr>
            <a:r>
              <a:t>[IE8] Principios DevOps Aplicados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1400"/>
              </a:spcAft>
              <a:defRPr sz="2000">
                <a:solidFill>
                  <a:srgbClr val="3C3C3C"/>
                </a:solidFill>
                <a:latin typeface="Arial"/>
              </a:defRPr>
            </a:pPr>
            <a:r>
              <a:t>1. Microservicios: Desacoplamiento Ventas/Despachos.</a:t>
            </a:r>
          </a:p>
          <a:p>
            <a:pPr>
              <a:spcAft>
                <a:spcPts val="1400"/>
              </a:spcAft>
              <a:defRPr sz="2000">
                <a:solidFill>
                  <a:srgbClr val="3C3C3C"/>
                </a:solidFill>
                <a:latin typeface="Arial"/>
              </a:defRPr>
            </a:pPr>
            <a:r>
              <a:t>2. Shift-Left Security: Alpine Linux y usuarios Non-Root.</a:t>
            </a:r>
          </a:p>
          <a:p>
            <a:pPr>
              <a:spcAft>
                <a:spcPts val="1400"/>
              </a:spcAft>
              <a:defRPr sz="2000">
                <a:solidFill>
                  <a:srgbClr val="3C3C3C"/>
                </a:solidFill>
                <a:latin typeface="Arial"/>
              </a:defRPr>
            </a:pPr>
            <a:r>
              <a:t>3. Entrega Continua: Lead Time minimizado con GH Actions.</a:t>
            </a:r>
          </a:p>
          <a:p>
            <a:pPr>
              <a:spcAft>
                <a:spcPts val="1400"/>
              </a:spcAft>
              <a:defRPr sz="2000">
                <a:solidFill>
                  <a:srgbClr val="3C3C3C"/>
                </a:solidFill>
                <a:latin typeface="Arial"/>
              </a:defRPr>
            </a:pPr>
            <a:r>
              <a:t>4. IaC: Todo orquestado nativamente con Compose.</a:t>
            </a:r>
          </a:p>
          <a:p>
            <a:pPr>
              <a:spcAft>
                <a:spcPts val="1400"/>
              </a:spcAft>
              <a:defRPr sz="2000">
                <a:solidFill>
                  <a:srgbClr val="3C3C3C"/>
                </a:solidFill>
                <a:latin typeface="Arial"/>
              </a:defRPr>
            </a:pPr>
            <a:r>
              <a:t>Escalabilidad: La arquitectura Spring Boot + React está</a:t>
            </a:r>
          </a:p>
          <a:p>
            <a:pPr>
              <a:spcAft>
                <a:spcPts val="1400"/>
              </a:spcAft>
              <a:defRPr sz="2000">
                <a:solidFill>
                  <a:srgbClr val="3C3C3C"/>
                </a:solidFill>
                <a:latin typeface="Arial"/>
              </a:defRPr>
            </a:pPr>
            <a:r>
              <a:t>lista para la Nube.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232F3E"/>
                </a:solidFill>
                <a:latin typeface="Arial"/>
              </a:defRPr>
            </a:pPr>
            <a:r>
              <a:t>[IE4/IE9] Funcionamiento de Microservicios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1400"/>
              </a:spcAft>
              <a:defRPr sz="2000">
                <a:solidFill>
                  <a:srgbClr val="3C3C3C"/>
                </a:solidFill>
                <a:latin typeface="Arial"/>
              </a:defRPr>
            </a:pPr>
            <a:r>
              <a:t>El Nginx (Frontend) es el único expuesto al público.</a:t>
            </a:r>
          </a:p>
          <a:p>
            <a:pPr>
              <a:spcAft>
                <a:spcPts val="1400"/>
              </a:spcAft>
              <a:defRPr sz="2000">
                <a:solidFill>
                  <a:srgbClr val="3C3C3C"/>
                </a:solidFill>
                <a:latin typeface="Arial"/>
              </a:defRPr>
            </a:pPr>
            <a:r>
              <a:t>Ambos backends Spring Boot (8080 y 8081) y MySQL (3306)</a:t>
            </a:r>
          </a:p>
          <a:p>
            <a:pPr>
              <a:spcAft>
                <a:spcPts val="1400"/>
              </a:spcAft>
              <a:defRPr sz="2000">
                <a:solidFill>
                  <a:srgbClr val="3C3C3C"/>
                </a:solidFill>
                <a:latin typeface="Arial"/>
              </a:defRPr>
            </a:pPr>
            <a:r>
              <a:t>están ocultos en la subred privada de Docker.</a:t>
            </a:r>
          </a:p>
          <a:p>
            <a:pPr>
              <a:spcAft>
                <a:spcPts val="1400"/>
              </a:spcAft>
              <a:defRPr sz="2000">
                <a:solidFill>
                  <a:srgbClr val="3C3C3C"/>
                </a:solidFill>
                <a:latin typeface="Arial"/>
              </a:defRPr>
            </a:pPr>
            <a:r>
              <a:t>El Proxy de Nginx resuelve peticiones /api/ internamente.</a:t>
            </a:r>
          </a:p>
        </p:txBody>
      </p:sp>
      <p:pic>
        <p:nvPicPr>
          <p:cNvPr id="4" name="Picture 3" descr="5-app-front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0" y="2286000"/>
            <a:ext cx="6206177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232F3E"/>
                </a:solidFill>
                <a:latin typeface="Arial"/>
              </a:defRPr>
            </a:pPr>
            <a:r>
              <a:t>Evidencia Técnica: Contenedores Vivos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1400"/>
              </a:spcAft>
              <a:defRPr sz="2000">
                <a:solidFill>
                  <a:srgbClr val="3C3C3C"/>
                </a:solidFill>
                <a:latin typeface="Arial"/>
              </a:defRPr>
            </a:pPr>
            <a:r>
              <a:t>Verificación mediante 'docker ps' y 'docker images'.</a:t>
            </a:r>
          </a:p>
          <a:p>
            <a:pPr>
              <a:spcAft>
                <a:spcPts val="1400"/>
              </a:spcAft>
              <a:defRPr sz="2000">
                <a:solidFill>
                  <a:srgbClr val="3C3C3C"/>
                </a:solidFill>
                <a:latin typeface="Arial"/>
              </a:defRPr>
            </a:pPr>
            <a:r>
              <a:t>Se aprecian 4 contenedores en ejecución paralela.</a:t>
            </a:r>
          </a:p>
        </p:txBody>
      </p:sp>
      <p:pic>
        <p:nvPicPr>
          <p:cNvPr id="4" name="Picture 3" descr="4-docker-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0" y="2286000"/>
            <a:ext cx="26894118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Demostración Funcional en Vivo (IE9)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1. Navegación en Frontend React.</a:t>
            </a:r>
          </a:p>
          <a:p>
            <a:r>
              <a:t>2. Verificación de logs en Backends Java.</a:t>
            </a:r>
          </a:p>
          <a:p>
            <a:r>
              <a:t>3. Recuperación de base de datos MySQL (Named Volume).</a:t>
            </a:r>
          </a:p>
          <a:p>
            <a:r>
              <a:t>4. Despliegue CI/CD automático tras Git Push.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